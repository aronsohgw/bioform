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9144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600" b="1">
                <a:solidFill>
                  <a:srgbClr val="F5F5F0"/>
                </a:solidFill>
                <a:latin typeface="Century Gothic"/>
              </a:defRPr>
            </a:pPr>
            <a:r>
              <a:t>BioForm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315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0">
                <a:solidFill>
                  <a:srgbClr val="8AA485"/>
                </a:solidFill>
                <a:latin typeface="Century Gothic"/>
              </a:defRPr>
            </a:pPr>
            <a:r>
              <a:t>Nature to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82296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787D78"/>
                </a:solidFill>
                <a:latin typeface="Calibri Light"/>
              </a:defRPr>
            </a:pPr>
            <a:r>
              <a:t>Translating biomimicry patterns from nature photographs</a:t>
            </a:r>
            <a:br/>
            <a:r>
              <a:t>into parametric Rhino and Grasshopper files for architectural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88920"/>
            <a:ext cx="3200400" cy="38100"/>
          </a:xfrm>
          <a:prstGeom prst="rect">
            <a:avLst/>
          </a:prstGeom>
          <a:solidFill>
            <a:srgbClr val="C6A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787D78"/>
                </a:solidFill>
                <a:latin typeface="Calibri Light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8AA485"/>
                </a:solidFill>
                <a:latin typeface="Century Gothic"/>
              </a:defRPr>
            </a:pPr>
            <a: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828800" cy="38100"/>
          </a:xfrm>
          <a:prstGeom prst="rect">
            <a:avLst/>
          </a:prstGeom>
          <a:solidFill>
            <a:srgbClr val="C6A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5F5F0"/>
                </a:solidFill>
                <a:latin typeface="Century Gothic"/>
              </a:defRPr>
            </a:pPr>
            <a: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8AA485"/>
                </a:solidFill>
                <a:latin typeface="Calibri Light"/>
              </a:defRPr>
            </a:pPr>
            <a:r>
              <a:t>Why biomimicry needs better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Biomimicry is widely discussed in architecture, but rarely implemented in practice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Translating a leaf vein or coral structure into parametric geometry is manual and slow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Existing tools require deep scripting knowledge (Grasshopper C#/Python)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Cloud-based generative AI services are expensive and output non-editable geometry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No accessible pipeline exists from "nature photograph" to "editable building file"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Biomimicry in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8AA485"/>
                </a:solidFill>
                <a:latin typeface="Calibri Light"/>
              </a:defRPr>
            </a:pPr>
            <a:r>
              <a:t>"Innovation inspired by nature" — Janine Benyus</a:t>
            </a:r>
            <a:br/>
            <a:r>
              <a:t>Learning from 3.8 billion years of evolutionary problem-solving.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Cellular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Honeycombs, foam, cell tissue → Space-filling partitions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92608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Branching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324612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Tree veins, river networks → Structural hierarchies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Lattice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Crystal grids, spider webs → Regular structural patterns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02336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Porous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43434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Sponge, bone, coral → Filtered light and ventilation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Spiral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4406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Nautilus, sunflower, vortex → Efficient circulation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51206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C6AC78"/>
                </a:solidFill>
                <a:latin typeface="Century Gothic"/>
              </a:defRPr>
            </a:pPr>
            <a:r>
              <a:t>Shell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544068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Sea shells, seed pods → Curved load-bearing forms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91440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8AA485"/>
                </a:solidFill>
                <a:latin typeface="Calibri Light"/>
              </a:defRPr>
            </a:pPr>
            <a:r>
              <a:t>What if an architect could photograph a leaf, a coral, or a spider web —</a:t>
            </a:r>
            <a:br/>
            <a:r>
              <a:t>and receive an editable parametric building file within seconds?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0"/>
              </a:spcAft>
              <a:defRPr sz="1700">
                <a:solidFill>
                  <a:srgbClr val="F5F5F0"/>
                </a:solidFill>
                <a:latin typeface="Calibri Light"/>
              </a:defRPr>
            </a:pPr>
            <a:r>
              <a:t>•  No coding required — visual selection replaces scripting</a:t>
            </a:r>
          </a:p>
          <a:p>
            <a:pPr algn="l">
              <a:spcAft>
                <a:spcPts val="2400"/>
              </a:spcAft>
              <a:defRPr sz="1700">
                <a:solidFill>
                  <a:srgbClr val="F5F5F0"/>
                </a:solidFill>
                <a:latin typeface="Calibri Light"/>
              </a:defRPr>
            </a:pPr>
            <a:r>
              <a:t>•  Runs locally or free on the web at bioform.vercel.app</a:t>
            </a:r>
          </a:p>
          <a:p>
            <a:pPr algn="l">
              <a:spcAft>
                <a:spcPts val="2400"/>
              </a:spcAft>
              <a:defRPr sz="1700">
                <a:solidFill>
                  <a:srgbClr val="F5F5F0"/>
                </a:solidFill>
                <a:latin typeface="Calibri Light"/>
              </a:defRPr>
            </a:pPr>
            <a:r>
              <a:t>•  Industry-standard output — .3dm + .ghx, ready for Rhino 8</a:t>
            </a:r>
          </a:p>
          <a:p>
            <a:pPr algn="l">
              <a:spcAft>
                <a:spcPts val="2400"/>
              </a:spcAft>
              <a:defRPr sz="1700">
                <a:solidFill>
                  <a:srgbClr val="F5F5F0"/>
                </a:solidFill>
                <a:latin typeface="Calibri Light"/>
              </a:defRPr>
            </a:pPr>
            <a:r>
              <a:t>•  Three design variations from a single image</a:t>
            </a:r>
          </a:p>
          <a:p>
            <a:pPr algn="l">
              <a:spcAft>
                <a:spcPts val="2400"/>
              </a:spcAft>
              <a:defRPr sz="1700">
                <a:solidFill>
                  <a:srgbClr val="F5F5F0"/>
                </a:solidFill>
                <a:latin typeface="Calibri Light"/>
              </a:defRPr>
            </a:pPr>
            <a:r>
              <a:t>•  Progressive detail — patterns evolve from ground to roof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8AA485"/>
                </a:solidFill>
                <a:latin typeface="Century Gothic"/>
              </a:defRPr>
            </a:pPr>
            <a: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828800" cy="38100"/>
          </a:xfrm>
          <a:prstGeom prst="rect">
            <a:avLst/>
          </a:prstGeom>
          <a:solidFill>
            <a:srgbClr val="C6A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5F5F0"/>
                </a:solidFill>
                <a:latin typeface="Century Gothic"/>
              </a:defRPr>
            </a:pPr>
            <a:r>
              <a:t>Ideation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8AA485"/>
                </a:solidFill>
                <a:latin typeface="Calibri Light"/>
              </a:defRPr>
            </a:pPr>
            <a:r>
              <a:t>How it works — from image to architecture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01  Upload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4630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Nature image via drag-and-drop or Unsplash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02 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1488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6 CV extractors run in parallel (~5 seconds)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03  Select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8346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User picks preferred pattern interpretation from 3×2 grid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204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04  Brief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5204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Define building parameters: site, floors, facades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05 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2062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3 parametric variations: facade, structure, 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920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06  Preview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8920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In-browser 3D viewer with layer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2743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C6AC78"/>
                </a:solidFill>
                <a:latin typeface="Century Gothic"/>
              </a:defRPr>
            </a:pPr>
            <a:r>
              <a:t>07 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55778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.3dm + .ghx files for Rhino 8 / Grasshopper</a:t>
            </a:r>
          </a:p>
        </p:txBody>
      </p:sp>
      <p:sp>
        <p:nvSpPr>
          <p:cNvPr id="17" name="Oval 16"/>
          <p:cNvSpPr/>
          <p:nvPr/>
        </p:nvSpPr>
        <p:spPr>
          <a:xfrm>
            <a:off x="3291840" y="1920240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291840" y="2606040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91840" y="3291840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291840" y="3977639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291840" y="4663440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291840" y="5349240"/>
            <a:ext cx="76200" cy="76200"/>
          </a:xfrm>
          <a:prstGeom prst="ellipse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Image Trace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F5F5F0"/>
                </a:solidFill>
                <a:latin typeface="Calibri Light"/>
              </a:defRPr>
            </a:pPr>
            <a:r>
              <a:t>Six computer vision extraction approaches run</a:t>
            </a:r>
            <a:br/>
            <a:r>
              <a:t>simultaneously on the uploaded image. Each maps</a:t>
            </a:r>
            <a:br/>
            <a:r>
              <a:t>to a distinct biomimicry category.</a:t>
            </a:r>
            <a:br/>
            <a:br/>
            <a:r>
              <a:t>The user sees all 6 results and picks visually —</a:t>
            </a:r>
            <a:br/>
            <a:r>
              <a:t>no algorithm configuration needed.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029200" cy="41148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Image Trace — 6-option selection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Cellular — Canny edges + Voronoi seeds</a:t>
            </a:r>
          </a:p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Branching — Skeleton path tracing</a:t>
            </a:r>
          </a:p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Lattice — Hough line detection</a:t>
            </a:r>
          </a:p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Porous — Otsu threshold + contours</a:t>
            </a:r>
          </a:p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Spiral — Skeleton curves + radial FFT</a:t>
            </a:r>
          </a:p>
          <a:p>
            <a:pPr algn="l">
              <a:spcAft>
                <a:spcPts val="1600"/>
              </a:spcAft>
              <a:defRPr sz="1300">
                <a:solidFill>
                  <a:srgbClr val="8AA485"/>
                </a:solidFill>
                <a:latin typeface="Calibri Light"/>
              </a:defRPr>
            </a:pPr>
            <a:r>
              <a:t>•  Shell — Height-mapped control grid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E201E"/>
                </a:solidFill>
                <a:latin typeface="Century Gothic"/>
              </a:defRPr>
            </a:pPr>
            <a:r>
              <a:t>Trace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787D78"/>
                </a:solidFill>
                <a:latin typeface="Calibri Light"/>
              </a:defRPr>
            </a:pPr>
            <a:r>
              <a:t>The user selects the trace that best captures their design intent.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737360"/>
            <a:ext cx="9966960" cy="45720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Full Image Trace UI with all 6 category previews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Project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400"/>
              </a:spcAft>
              <a:defRPr sz="1600">
                <a:solidFill>
                  <a:srgbClr val="F5F5F0"/>
                </a:solidFill>
                <a:latin typeface="Calibri Light"/>
              </a:defRPr>
            </a:pPr>
            <a:r>
              <a:t>•  Site boundary — polygon with preset shapes or custom dimensions</a:t>
            </a:r>
          </a:p>
          <a:p>
            <a:pPr algn="l">
              <a:spcAft>
                <a:spcPts val="2400"/>
              </a:spcAft>
              <a:defRPr sz="1600">
                <a:solidFill>
                  <a:srgbClr val="F5F5F0"/>
                </a:solidFill>
                <a:latin typeface="Calibri Light"/>
              </a:defRPr>
            </a:pPr>
            <a:r>
              <a:t>•  Floor count and floor height (default: 5 floors, 3m each)</a:t>
            </a:r>
          </a:p>
          <a:p>
            <a:pPr algn="l">
              <a:spcAft>
                <a:spcPts val="2400"/>
              </a:spcAft>
              <a:defRPr sz="1600">
                <a:solidFill>
                  <a:srgbClr val="F5F5F0"/>
                </a:solidFill>
                <a:latin typeface="Calibri Light"/>
              </a:defRPr>
            </a:pPr>
            <a:r>
              <a:t>•  Dimension mode — static, taper, or setback per floor</a:t>
            </a:r>
          </a:p>
          <a:p>
            <a:pPr algn="l">
              <a:spcAft>
                <a:spcPts val="2400"/>
              </a:spcAft>
              <a:defRPr sz="1600">
                <a:solidFill>
                  <a:srgbClr val="F5F5F0"/>
                </a:solidFill>
                <a:latin typeface="Calibri Light"/>
              </a:defRPr>
            </a:pPr>
            <a:r>
              <a:t>•  Active facades — north, south, east, west selection</a:t>
            </a:r>
          </a:p>
          <a:p>
            <a:pPr algn="l">
              <a:spcAft>
                <a:spcPts val="2400"/>
              </a:spcAft>
              <a:defRPr sz="1600">
                <a:solidFill>
                  <a:srgbClr val="F5F5F0"/>
                </a:solidFill>
                <a:latin typeface="Calibri Light"/>
              </a:defRPr>
            </a:pPr>
            <a:r>
              <a:t>•  Optional — skip for sensible defaults (10×10m, 5 floors)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029200" cy="45720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Project Brief 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Three Design Variations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8AA485"/>
                </a:solidFill>
                <a:latin typeface="Calibri Light"/>
              </a:defRPr>
            </a:pPr>
            <a:r>
              <a:t>One natural pattern, three architectural applications: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3383280" cy="3840480"/>
          </a:xfrm>
          <a:prstGeom prst="roundRect">
            <a:avLst/>
          </a:prstGeom>
          <a:solidFill>
            <a:srgbClr val="232A26"/>
          </a:solidFill>
          <a:ln w="9525">
            <a:solidFill>
              <a:srgbClr val="8AA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C6AC78"/>
                </a:solidFill>
                <a:latin typeface="Century Gothic"/>
              </a:defRPr>
            </a:pPr>
            <a:r>
              <a:t>A — Facade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8346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Pattern as external wall</a:t>
            </a:r>
            <a:br/>
            <a:r>
              <a:t>treatment and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AA485"/>
                </a:solidFill>
                <a:latin typeface="Calibri"/>
              </a:defRPr>
            </a:pPr>
            <a:r>
              <a:t>Editable: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F5F0"/>
                </a:solidFill>
                <a:latin typeface="Calibri Light"/>
              </a:defRPr>
            </a:pPr>
            <a:r>
              <a:t>Pattern size, repetitions,</a:t>
            </a:r>
            <a:br/>
            <a:r>
              <a:t>simplicity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59" y="2286000"/>
            <a:ext cx="3383280" cy="3840480"/>
          </a:xfrm>
          <a:prstGeom prst="roundRect">
            <a:avLst/>
          </a:prstGeom>
          <a:solidFill>
            <a:srgbClr val="232A26"/>
          </a:solidFill>
          <a:ln w="9525">
            <a:solidFill>
              <a:srgbClr val="8AA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246888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C6AC78"/>
                </a:solidFill>
                <a:latin typeface="Century Gothic"/>
              </a:defRPr>
            </a:pPr>
            <a:r>
              <a:t>B —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3108960"/>
            <a:ext cx="28346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Columns and beams derived</a:t>
            </a:r>
            <a:br/>
            <a:r>
              <a:t>from pattern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429768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AA485"/>
                </a:solidFill>
                <a:latin typeface="Calibri"/>
              </a:defRPr>
            </a:pPr>
            <a:r>
              <a:t>Editable: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466344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F5F0"/>
                </a:solidFill>
                <a:latin typeface="Calibri Light"/>
              </a:defRPr>
            </a:pPr>
            <a:r>
              <a:t>Column spacing, beam depth,</a:t>
            </a:r>
            <a:br/>
            <a:r>
              <a:t>pattern influence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286000"/>
            <a:ext cx="3383280" cy="3840480"/>
          </a:xfrm>
          <a:prstGeom prst="roundRect">
            <a:avLst/>
          </a:prstGeom>
          <a:solidFill>
            <a:srgbClr val="232A26"/>
          </a:solidFill>
          <a:ln w="9525">
            <a:solidFill>
              <a:srgbClr val="8AA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2468880"/>
            <a:ext cx="2834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C6AC78"/>
                </a:solidFill>
                <a:latin typeface="Century Gothic"/>
              </a:defRPr>
            </a:pPr>
            <a:r>
              <a:t>C — Room Layout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108960"/>
            <a:ext cx="283464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Pattern shapes rooms,</a:t>
            </a:r>
            <a:br/>
            <a:r>
              <a:t>corridors, and spaces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297680"/>
            <a:ext cx="2834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8AA485"/>
                </a:solidFill>
                <a:latin typeface="Calibri"/>
              </a:defRPr>
            </a:pPr>
            <a:r>
              <a:t>Editable: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663440"/>
            <a:ext cx="28346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F5F5F0"/>
                </a:solidFill>
                <a:latin typeface="Calibri Light"/>
              </a:defRPr>
            </a:pPr>
            <a:r>
              <a:t>Room count, corridor width,</a:t>
            </a:r>
            <a:br/>
            <a:r>
              <a:t>openness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3D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C6AC78"/>
                </a:solidFill>
                <a:latin typeface="Century Gothic"/>
              </a:defRPr>
            </a:pPr>
            <a:r>
              <a:t>Default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Dark background, purple materials</a:t>
            </a:r>
            <a:br/>
            <a:r>
              <a:t>with wireframe overlay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C6AC78"/>
                </a:solidFill>
                <a:latin typeface="Century Gothic"/>
              </a:defRPr>
            </a:pPr>
            <a:r>
              <a:t>Arctic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0292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F5F5F0"/>
                </a:solidFill>
                <a:latin typeface="Calibri Light"/>
              </a:defRPr>
            </a:pPr>
            <a:r>
              <a:t>White matte rendering with</a:t>
            </a:r>
            <a:br/>
            <a:r>
              <a:t>edge outlines — Rhino-style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926080"/>
            <a:ext cx="5029200" cy="32004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Default view 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926080"/>
            <a:ext cx="5029200" cy="32004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Arctic view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5F5F0"/>
                </a:solidFill>
                <a:latin typeface="Century Gothic"/>
              </a:defRPr>
            </a:pPr>
            <a:r>
              <a:t>Layer Controls &amp; Parameter Tweaking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Toggle visibility of individual building systems:</a:t>
            </a: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   Floor Plates • Walls • Facade Pattern</a:t>
            </a: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   Columns • Beams • Room Walls • Corridors</a:t>
            </a: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Layer choices persist across variation switches</a:t>
            </a: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Slider parameters persist across popup opens</a:t>
            </a:r>
          </a:p>
          <a:p>
            <a:pPr algn="l">
              <a:spcAft>
                <a:spcPts val="18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Regeneration takes 2–3 seconds per variation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097280"/>
            <a:ext cx="5029200" cy="457200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Layer panel + variation slider popup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5F5F0"/>
                </a:solidFill>
                <a:latin typeface="Century Gothic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515600" cy="19050"/>
          </a:xfrm>
          <a:prstGeom prst="rect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React 18 + Vite — Frontend SPA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Three.js + rhino3dm.js — 3D preview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Python 3.11 / FastAPI — Backend API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OpenCV + scikit-image — CV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rhino3dm — .3dm file generation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Programmatic XML — .ghx templates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SSE streaming — Real-time progress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Ollama — optional local LLM (disabled in cloud build)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7200" b="1">
                <a:solidFill>
                  <a:srgbClr val="8AA485"/>
                </a:solidFill>
                <a:latin typeface="Century Gothic"/>
              </a:defRPr>
            </a:pPr>
            <a: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926080"/>
            <a:ext cx="1828800" cy="38100"/>
          </a:xfrm>
          <a:prstGeom prst="rect">
            <a:avLst/>
          </a:prstGeom>
          <a:solidFill>
            <a:srgbClr val="C6A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91440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000" b="1">
                <a:solidFill>
                  <a:srgbClr val="F5F5F0"/>
                </a:solidFill>
                <a:latin typeface="Century Gothic"/>
              </a:defRPr>
            </a:pPr>
            <a: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8AA485"/>
                </a:solidFill>
                <a:latin typeface="Calibri Light"/>
              </a:defRPr>
            </a:pPr>
            <a:r>
              <a:t>What was built, and what comes next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Development Journey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5544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Foundation — 3-variation system, solid geometry, metres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33172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Multi-scale extraction with 3-tier hierarchy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10896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Image Trace UI — 6-option visual selector, no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388620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Performance — server-side caching, feature caps, 50% faster extraction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66344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Polish — timeouts, cancel buttons, curve smoothing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4068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54406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Stability — critical bug fixes, layer persistence, report generation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621792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621792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Cloud deployment — Vercel + Render on free tiers, guarded upload flow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6995160"/>
            <a:ext cx="1645920" cy="502920"/>
          </a:xfrm>
          <a:prstGeom prst="roundRect">
            <a:avLst/>
          </a:prstGeom>
          <a:solidFill>
            <a:srgbClr val="2D5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5F5F0"/>
                </a:solidFill>
                <a:latin typeface="Century Gothic"/>
              </a:defRPr>
            </a:pPr>
            <a:r>
              <a:t>Phase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699516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F5F5F0"/>
                </a:solidFill>
                <a:latin typeface="Calibri Light"/>
              </a:defRPr>
            </a:pPr>
            <a:r>
              <a:t>Pattern fidelity — image-dim normalisation so 3D follows the trace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F5F5F0"/>
                </a:solidFill>
                <a:latin typeface="Century Gothic"/>
              </a:defRPr>
            </a:pPr>
            <a:r>
              <a:t>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515600" cy="19050"/>
          </a:xfrm>
          <a:prstGeom prst="rect">
            <a:avLst/>
          </a:prstGeom>
          <a:solidFill>
            <a:srgbClr val="8AA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Visual selection over algorithm configuration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LLM removed from main flow — user picks pattern visually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All geometry as solid meshes, not wireframe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Progressive detail: ground → roof hierarchy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73736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Local-first: no paid API dependencies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Server-side trace caching (no large payloads)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30-second timeout per generator</a:t>
            </a:r>
          </a:p>
          <a:p>
            <a:pPr algn="l">
              <a:spcAft>
                <a:spcPts val="2000"/>
              </a:spcAft>
              <a:defRPr sz="1500">
                <a:solidFill>
                  <a:srgbClr val="F5F5F0"/>
                </a:solidFill>
                <a:latin typeface="Calibri Light"/>
              </a:defRPr>
            </a:pPr>
            <a:r>
              <a:t>•  Single building per brief (multi-building removed)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25603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C6AC78"/>
                </a:solidFill>
                <a:latin typeface="Century Gothic"/>
              </a:defRPr>
            </a:pPr>
            <a:r>
              <a:t>~5s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700" b="1">
                <a:solidFill>
                  <a:srgbClr val="F5F5F0"/>
                </a:solidFill>
                <a:latin typeface="Century Gothic"/>
              </a:defRPr>
            </a:pPr>
            <a:r>
              <a:t>Image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8AA485"/>
                </a:solidFill>
                <a:latin typeface="Calibri Light"/>
              </a:defRPr>
            </a:pPr>
            <a:r>
              <a:t>6 CV extractors in parallel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828800"/>
            <a:ext cx="25603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C6AC78"/>
                </a:solidFill>
                <a:latin typeface="Century Gothic"/>
              </a:defRPr>
            </a:pPr>
            <a:r>
              <a:t>~5–10s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301752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700" b="1">
                <a:solidFill>
                  <a:srgbClr val="F5F5F0"/>
                </a:solidFill>
                <a:latin typeface="Century Gothic"/>
              </a:defRPr>
            </a:pPr>
            <a:r>
              <a:t>3D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56616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8AA485"/>
                </a:solidFill>
                <a:latin typeface="Calibri Light"/>
              </a:defRPr>
            </a:pPr>
            <a:r>
              <a:t>3 variations with cached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25603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C6AC78"/>
                </a:solidFill>
                <a:latin typeface="Century Gothic"/>
              </a:defRPr>
            </a:pPr>
            <a:r>
              <a:t>~2–3s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01752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700" b="1">
                <a:solidFill>
                  <a:srgbClr val="F5F5F0"/>
                </a:solidFill>
                <a:latin typeface="Century Gothic"/>
              </a:defRPr>
            </a:pPr>
            <a:r>
              <a:t>Regeneration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8AA485"/>
                </a:solidFill>
                <a:latin typeface="Calibri Light"/>
              </a:defRPr>
            </a:pPr>
            <a:r>
              <a:t>Single variation, slider params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828800"/>
            <a:ext cx="25603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400" b="1">
                <a:solidFill>
                  <a:srgbClr val="C6AC78"/>
                </a:solidFill>
                <a:latin typeface="Century Gothic"/>
              </a:defRPr>
            </a:pPr>
            <a:r>
              <a:t>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301752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700" b="1">
                <a:solidFill>
                  <a:srgbClr val="F5F5F0"/>
                </a:solidFill>
                <a:latin typeface="Century Gothic"/>
              </a:defRPr>
            </a:pPr>
            <a:r>
              <a:t>Tests Passing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3566160"/>
            <a:ext cx="2560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8AA485"/>
                </a:solidFill>
                <a:latin typeface="Calibri Light"/>
              </a:defRPr>
            </a:pPr>
            <a:r>
              <a:t>Full backend test suite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787D78"/>
                </a:solidFill>
                <a:latin typeface="Calibri Light"/>
              </a:defRPr>
            </a:pPr>
            <a:r>
              <a:t>All operations stream real-time progress via Server-Sent Events.</a:t>
            </a:r>
            <a:br/>
            <a:r>
              <a:t>Cancel button available on every progress screen.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1E201E"/>
                </a:solidFill>
                <a:latin typeface="Century Gothic"/>
              </a:defRPr>
            </a:pPr>
            <a:r>
              <a:t>Full Workflow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237744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Image Upload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0" y="1371600"/>
            <a:ext cx="5212080" cy="237744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Image Trace 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977639"/>
            <a:ext cx="5212080" cy="237744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3D Preview (Default)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3977639"/>
            <a:ext cx="5212080" cy="2377440"/>
          </a:xfrm>
          <a:prstGeom prst="rect">
            <a:avLst/>
          </a:prstGeom>
          <a:solidFill>
            <a:srgbClr val="DCDAD4"/>
          </a:solidFill>
          <a:ln w="19050">
            <a:solidFill>
              <a:srgbClr val="B4B2A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300">
                <a:solidFill>
                  <a:srgbClr val="787D78"/>
                </a:solidFill>
                <a:latin typeface="Calibri"/>
              </a:defRPr>
            </a:pPr>
            <a:r>
              <a:t>▣  Screenshot: 3D Preview (Arctic)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F5F5F0"/>
                </a:solidFill>
                <a:latin typeface="Century Gothic"/>
              </a:defRPr>
            </a:pPr>
            <a:r>
              <a:t>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End-to-end integration testing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Additional biomimicry categories (fractal, tessellation)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Multi-building site layouts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Material and colour mapping from source image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User documentation and onboarding guide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Export to additional formats (IFC, FBX)</a:t>
            </a:r>
          </a:p>
          <a:p>
            <a:pPr algn="l">
              <a:spcAft>
                <a:spcPts val="2800"/>
              </a:spcAft>
              <a:defRPr sz="1800">
                <a:solidFill>
                  <a:srgbClr val="F5F5F0"/>
                </a:solidFill>
                <a:latin typeface="Calibri Light"/>
              </a:defRPr>
            </a:pPr>
            <a:r>
              <a:t>•  Paid tier deployment to remove cold-start delay (~40 s) on free Render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B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5F5F0"/>
                </a:solidFill>
                <a:latin typeface="Century Gothic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108960"/>
            <a:ext cx="3017520" cy="38100"/>
          </a:xfrm>
          <a:prstGeom prst="rect">
            <a:avLst/>
          </a:prstGeom>
          <a:solidFill>
            <a:srgbClr val="C6A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8AA485"/>
                </a:solidFill>
                <a:latin typeface="Century Gothic"/>
              </a:defRPr>
            </a:pPr>
            <a:r>
              <a:t>BioForm — Nature to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787D78"/>
                </a:solidFill>
                <a:latin typeface="Calibri Light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